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7b32f38df342d7" /><Relationship Type="http://schemas.openxmlformats.org/officeDocument/2006/relationships/extended-properties" Target="/docProps/app.xml" Id="R88accc76208c4080" /><Relationship Type="http://schemas.openxmlformats.org/officeDocument/2006/relationships/officeDocument" Target="/ppt/presentation.xml" Id="R6dcf76d07c594b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46e2ac0e7140b1"/>
  </p:sldMasterIdLst>
  <p:notesMasterIdLst>
    <p:notesMasterId xmlns:r="http://schemas.openxmlformats.org/officeDocument/2006/relationships" r:id="Rb968d1889a3e413b"/>
  </p:notesMasterIdLst>
  <p:sldIdLst>
    <p:sldId xmlns:r="http://schemas.openxmlformats.org/officeDocument/2006/relationships" id="256" r:id="R6a919e1b293340f6"/>
    <p:sldId xmlns:r="http://schemas.openxmlformats.org/officeDocument/2006/relationships" id="257" r:id="R8f5e2d2373eb42b9"/>
    <p:sldId xmlns:r="http://schemas.openxmlformats.org/officeDocument/2006/relationships" id="258" r:id="Rf12d6fc90bda4546"/>
    <p:sldId xmlns:r="http://schemas.openxmlformats.org/officeDocument/2006/relationships" id="259" r:id="Re598ddb46eea4742"/>
    <p:sldId xmlns:r="http://schemas.openxmlformats.org/officeDocument/2006/relationships" id="260" r:id="Reb047a0f7f554991"/>
    <p:sldId xmlns:r="http://schemas.openxmlformats.org/officeDocument/2006/relationships" id="261" r:id="Re87b2281bd2e4664"/>
    <p:sldId xmlns:r="http://schemas.openxmlformats.org/officeDocument/2006/relationships" id="262" r:id="Rc772109a97244f45"/>
    <p:sldId xmlns:r="http://schemas.openxmlformats.org/officeDocument/2006/relationships" id="263" r:id="R6639a03be77a499d"/>
    <p:sldId xmlns:r="http://schemas.openxmlformats.org/officeDocument/2006/relationships" id="264" r:id="R6f6382b0b2524afb"/>
    <p:sldId xmlns:r="http://schemas.openxmlformats.org/officeDocument/2006/relationships" id="265" r:id="R4522327efc814979"/>
    <p:sldId xmlns:r="http://schemas.openxmlformats.org/officeDocument/2006/relationships" id="266" r:id="Re0f75a015e0b45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00767c234f4b1c" /><Relationship Type="http://schemas.openxmlformats.org/officeDocument/2006/relationships/slideMaster" Target="/ppt/slideMasters/slideMaster1.xml" Id="R1d46e2ac0e7140b1" /><Relationship Type="http://schemas.openxmlformats.org/officeDocument/2006/relationships/notesMaster" Target="/ppt/notesMasters/notesMaster1.xml" Id="Rb968d1889a3e413b" /><Relationship Type="http://schemas.openxmlformats.org/officeDocument/2006/relationships/presProps" Target="/ppt/presProps.xml" Id="R39ed00bf33474001" /><Relationship Type="http://schemas.openxmlformats.org/officeDocument/2006/relationships/tableStyles" Target="/ppt/tableStyles.xml" Id="Rfcb8a9d6567042da" /><Relationship Type="http://schemas.openxmlformats.org/officeDocument/2006/relationships/slide" Target="/ppt/slides/slide1.xml" Id="R6a919e1b293340f6" /><Relationship Type="http://schemas.openxmlformats.org/officeDocument/2006/relationships/slide" Target="/ppt/slides/slide2.xml" Id="R8f5e2d2373eb42b9" /><Relationship Type="http://schemas.openxmlformats.org/officeDocument/2006/relationships/slide" Target="/ppt/slides/slide3.xml" Id="Rf12d6fc90bda4546" /><Relationship Type="http://schemas.openxmlformats.org/officeDocument/2006/relationships/slide" Target="/ppt/slides/slide4.xml" Id="Re598ddb46eea4742" /><Relationship Type="http://schemas.openxmlformats.org/officeDocument/2006/relationships/slide" Target="/ppt/slides/slide5.xml" Id="Reb047a0f7f554991" /><Relationship Type="http://schemas.openxmlformats.org/officeDocument/2006/relationships/slide" Target="/ppt/slides/slide6.xml" Id="Re87b2281bd2e4664" /><Relationship Type="http://schemas.openxmlformats.org/officeDocument/2006/relationships/slide" Target="/ppt/slides/slide7.xml" Id="Rc772109a97244f45" /><Relationship Type="http://schemas.openxmlformats.org/officeDocument/2006/relationships/slide" Target="/ppt/slides/slide8.xml" Id="R6639a03be77a499d" /><Relationship Type="http://schemas.openxmlformats.org/officeDocument/2006/relationships/slide" Target="/ppt/slides/slide9.xml" Id="R6f6382b0b2524afb" /><Relationship Type="http://schemas.openxmlformats.org/officeDocument/2006/relationships/slide" Target="/ppt/slides/slide10.xml" Id="R4522327efc814979" /><Relationship Type="http://schemas.openxmlformats.org/officeDocument/2006/relationships/slide" Target="/ppt/slides/slide11.xml" Id="Re0f75a015e0b45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78feadd55649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29a0f39c4b412a" /><Relationship Type="http://schemas.openxmlformats.org/officeDocument/2006/relationships/notesMaster" Target="/ppt/notesMasters/notesMaster1.xml" Id="Ra0b70f45e85140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d4678f427e4e27" /><Relationship Type="http://schemas.openxmlformats.org/officeDocument/2006/relationships/notesMaster" Target="/ppt/notesMasters/notesMaster1.xml" Id="Rd5ae519feeeb40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352bf297864d50" /><Relationship Type="http://schemas.openxmlformats.org/officeDocument/2006/relationships/notesMaster" Target="/ppt/notesMasters/notesMaster1.xml" Id="Re08e1022c43043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3c011e4a494c10" /><Relationship Type="http://schemas.openxmlformats.org/officeDocument/2006/relationships/notesMaster" Target="/ppt/notesMasters/notesMaster1.xml" Id="R4c02700bae1545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c6780bcbc4443a" /><Relationship Type="http://schemas.openxmlformats.org/officeDocument/2006/relationships/notesMaster" Target="/ppt/notesMasters/notesMaster1.xml" Id="R24b505a452ca45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9051d04d42460a" /><Relationship Type="http://schemas.openxmlformats.org/officeDocument/2006/relationships/notesMaster" Target="/ppt/notesMasters/notesMaster1.xml" Id="R35f2bd6fa7b940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746bb679c24961" /><Relationship Type="http://schemas.openxmlformats.org/officeDocument/2006/relationships/notesMaster" Target="/ppt/notesMasters/notesMaster1.xml" Id="R4820d288085a49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70c178d9c6490e" /><Relationship Type="http://schemas.openxmlformats.org/officeDocument/2006/relationships/notesMaster" Target="/ppt/notesMasters/notesMaster1.xml" Id="R539ef1f8d4c54b7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dc9dd7777f4e17" /><Relationship Type="http://schemas.openxmlformats.org/officeDocument/2006/relationships/notesMaster" Target="/ppt/notesMasters/notesMaster1.xml" Id="R36b3647d3c2a47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c58a5284d14cd6" /><Relationship Type="http://schemas.openxmlformats.org/officeDocument/2006/relationships/notesMaster" Target="/ppt/notesMasters/notesMaster1.xml" Id="R563464c3e82c42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95e17c2206b4e86" /><Relationship Type="http://schemas.openxmlformats.org/officeDocument/2006/relationships/notesMaster" Target="/ppt/notesMasters/notesMaster1.xml" Id="R0a2866469c4641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README describes SmartCoach as an AI-powered sports training platform with real-time pose estimation.</a:t>
            </a:r>
          </a:p>
          <a:p xmlns:a="http://schemas.openxmlformats.org/drawingml/2006/main">
            <a:r>
              <a:t>Visual asset: apps/frontend/public/postures/cricket_cover_drive.png.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Problem framing inferred from implemented product capabilities: real-time analysis, feedback, saved sessions, XP, streaks, and social circles.</a:t>
            </a:r>
          </a:p>
          <a:p xmlns:a="http://schemas.openxmlformats.org/drawingml/2006/main">
            <a:r>
              <a:t>Primary repo references: README.md; apps/frontend/src/app/page.tsx; apps/backend/prisma/schema.prisma.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Frontend training loop: apps/frontend/src/app/train/[sport]/page.tsx.</a:t>
            </a:r>
          </a:p>
          <a:p xmlns:a="http://schemas.openxmlformats.org/drawingml/2006/main">
            <a:r>
              <a:t>Pose capture: apps/frontend/src/hooks/useHolisticDetection.ts.</a:t>
            </a:r>
          </a:p>
          <a:p xmlns:a="http://schemas.openxmlformats.org/drawingml/2006/main">
            <a:r>
              <a:t>Voice coaching: apps/frontend/src/hooks/useVoiceCoaching.ts.</a:t>
            </a:r>
          </a:p>
          <a:p xmlns:a="http://schemas.openxmlformats.org/drawingml/2006/main">
            <a:r>
              <a:t>Backend session persistence: apps/backend/src/routes/sessions.ts.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Counts computed from apps/ai-service/app/data/reference_poses.json and apps/ai-service/app/data/reference_movements.json.</a:t>
            </a:r>
          </a:p>
          <a:p xmlns:a="http://schemas.openxmlformats.org/drawingml/2006/main">
            <a:r>
              <a:t>Sport selection UI: apps/frontend/src/app/dashboard/page.tsx and apps/frontend/src/app/train/[sport]/setup/page.tsx.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Live session UI: apps/frontend/src/app/train/[sport]/page.tsx.</a:t>
            </a:r>
          </a:p>
          <a:p xmlns:a="http://schemas.openxmlformats.org/drawingml/2006/main">
            <a:r>
              <a:t>Feedback UI: apps/frontend/src/components/ActionableFeedback.tsx.</a:t>
            </a:r>
          </a:p>
          <a:p xmlns:a="http://schemas.openxmlformats.org/drawingml/2006/main">
            <a:r>
              <a:t>Voice logic: apps/frontend/src/hooks/useVoiceCoaching.ts.</a:t>
            </a:r>
          </a:p>
          <a:p xmlns:a="http://schemas.openxmlformats.org/drawingml/2006/main">
            <a:r>
              <a:t>Visual asset: apps/frontend/public/postures/tennis_serve_trophy.png.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Architecture summary: README.md and docker-compose.yml.</a:t>
            </a:r>
          </a:p>
          <a:p xmlns:a="http://schemas.openxmlformats.org/drawingml/2006/main">
            <a:r>
              <a:t>Browser perception: apps/frontend/src/hooks/useHolisticDetection.ts.</a:t>
            </a:r>
          </a:p>
          <a:p xmlns:a="http://schemas.openxmlformats.org/drawingml/2006/main">
            <a:r>
              <a:t>WebSocket relay: apps/backend/src/websocket/sessionRelay.ts.</a:t>
            </a:r>
          </a:p>
          <a:p xmlns:a="http://schemas.openxmlformats.org/drawingml/2006/main">
            <a:r>
              <a:t>AI service: apps/ai-service/main.py and apps/ai-service/app/routes/analysis.py.</a:t>
            </a:r>
          </a:p>
          <a:p xmlns:a="http://schemas.openxmlformats.org/drawingml/2006/main">
            <a:r>
              <a:t>Persistence model: apps/backend/prisma/schema.prisma.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Dynamic analyzer: apps/ai-service/app/services/dynamic/dynamic_analyzer.py.</a:t>
            </a:r>
          </a:p>
          <a:p xmlns:a="http://schemas.openxmlformats.org/drawingml/2006/main">
            <a:r>
              <a:t>Phase detector: apps/ai-service/app/services/dynamic/phase_detector.py.</a:t>
            </a:r>
          </a:p>
          <a:p xmlns:a="http://schemas.openxmlformats.org/drawingml/2006/main">
            <a:r>
              <a:t>Kinetic chain validator: apps/ai-service/app/services/dynamic/kinetic_chain.py.</a:t>
            </a:r>
          </a:p>
          <a:p xmlns:a="http://schemas.openxmlformats.org/drawingml/2006/main">
            <a:r>
              <a:t>Visual asset: apps/frontend/public/postures/yoga_squats.png.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Gamification engine: apps/backend/src/utils/gamification.ts.</a:t>
            </a:r>
          </a:p>
          <a:p xmlns:a="http://schemas.openxmlformats.org/drawingml/2006/main">
            <a:r>
              <a:t>Enhanced streak logic: apps/backend/src/services/streak.service.ts.</a:t>
            </a:r>
          </a:p>
          <a:p xmlns:a="http://schemas.openxmlformats.org/drawingml/2006/main">
            <a:r>
              <a:t>Circle logic: apps/backend/src/services/circle.service.ts; apps/backend/src/routes/circles.ts.</a:t>
            </a:r>
          </a:p>
          <a:p xmlns:a="http://schemas.openxmlformats.org/drawingml/2006/main">
            <a:r>
              <a:t>Dashboard UI: apps/frontend/src/app/dashboard/page.tsx.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Customer wedge inferred from repository-supported sport coverage, posture library, saved sessions, and circle/social mechanics.</a:t>
            </a:r>
          </a:p>
          <a:p xmlns:a="http://schemas.openxmlformats.org/drawingml/2006/main">
            <a:r>
              <a:t>Repo references: apps/frontend/src/app/train/[sport]/setup/page.tsx; apps/backend/prisma/schema.prisma.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Business model is a recommended pitch framing inferred from the implemented user app, session data model, circle model, and AI service architecture.</a:t>
            </a:r>
          </a:p>
          <a:p xmlns:a="http://schemas.openxmlformats.org/drawingml/2006/main">
            <a:r>
              <a:t>No external pricing or revenue claims are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Roadmap and ask are pitch recommendations based on current MVP capabilities observed in the repository.</a:t>
            </a:r>
          </a:p>
          <a:p xmlns:a="http://schemas.openxmlformats.org/drawingml/2006/main">
            <a:r>
              <a:t>No funding amount, revenue, or user traction is asserted because the repository does not contain those metrics.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97374055f548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74f3714ec54687" /><Relationship Type="http://schemas.openxmlformats.org/officeDocument/2006/relationships/slideLayout" Target="/ppt/slideLayouts/slideLayout1.xml" Id="R45f802833e7a43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f802833e7a43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5af6e96c347ec" /><Relationship Type="http://schemas.openxmlformats.org/officeDocument/2006/relationships/image" Target="/ppt/media/image.jpeg" Id="R27113b59774742c7" /><Relationship Type="http://schemas.openxmlformats.org/officeDocument/2006/relationships/notesSlide" Target="/ppt/notesSlides/notesSlide1.xml" Id="R3e074022509c43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fc36e7dbcf4b0d" /><Relationship Type="http://schemas.openxmlformats.org/officeDocument/2006/relationships/notesSlide" Target="/ppt/notesSlides/notesSlide2.xml" Id="R3f28d9cf2c4544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9d76489fe141d0" /><Relationship Type="http://schemas.openxmlformats.org/officeDocument/2006/relationships/notesSlide" Target="/ppt/notesSlides/notesSlide3.xml" Id="Re95ce3d0417243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bd63be1614a4f" /><Relationship Type="http://schemas.openxmlformats.org/officeDocument/2006/relationships/notesSlide" Target="/ppt/notesSlides/notesSlide4.xml" Id="Rc37f04eaddff4f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93c97c3dd4e44" /><Relationship Type="http://schemas.openxmlformats.org/officeDocument/2006/relationships/image" Target="/ppt/media/image2.jpeg" Id="Rda43d2918076475f" /><Relationship Type="http://schemas.openxmlformats.org/officeDocument/2006/relationships/notesSlide" Target="/ppt/notesSlides/notesSlide5.xml" Id="R8663627ad3dd4b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fc52d87124915" /><Relationship Type="http://schemas.openxmlformats.org/officeDocument/2006/relationships/notesSlide" Target="/ppt/notesSlides/notesSlide6.xml" Id="Rd15e685ea65b46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2cee1966bb41fd" /><Relationship Type="http://schemas.openxmlformats.org/officeDocument/2006/relationships/image" Target="/ppt/media/image.png" Id="R8c792faae15b4f4b" /><Relationship Type="http://schemas.openxmlformats.org/officeDocument/2006/relationships/notesSlide" Target="/ppt/notesSlides/notesSlide7.xml" Id="R68120471ac1243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7ec892c3f4444" /><Relationship Type="http://schemas.openxmlformats.org/officeDocument/2006/relationships/notesSlide" Target="/ppt/notesSlides/notesSlide8.xml" Id="R6a7ab1d0165248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73c49873b4252" /><Relationship Type="http://schemas.openxmlformats.org/officeDocument/2006/relationships/notesSlide" Target="/ppt/notesSlides/notesSlide9.xml" Id="R11017474dddd4a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b74266d894322" /><Relationship Type="http://schemas.openxmlformats.org/officeDocument/2006/relationships/notesSlide" Target="/ppt/notesSlides/notesSlide10.xml" Id="Rc0aed09b3c0a427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0da91ff5940a2" /><Relationship Type="http://schemas.openxmlformats.org/officeDocument/2006/relationships/notesSlide" Target="/ppt/notesSlides/notesSlide11.xml" Id="R3346ef03579b41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D127F-024F-41A6-BE9A-8AE905E0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81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DF8F4-D5FD-4499-AA1E-B185A539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85787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form coaching that works wherever an athlete trains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38DE40-16C9-4BAD-A797-13114070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19650"/>
            <a:ext cx="542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 startup pitch for browser-based technique intelligence, real-time feedback, and habit-forming practice.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0B1A9-4866-4B04-9811-690F480D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24550"/>
            <a:ext cx="2952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81029-D8F2-4C3B-BF2E-6FA63E79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150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Pitch deck | July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0AC806-64E6-4B83-B6ED-DE706E1D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0050"/>
            <a:ext cx="5124450" cy="5600700"/>
          </a:xfrm>
          <a:prstGeom xmlns:a="http://schemas.openxmlformats.org/drawingml/2006/main" prst="roundRect">
            <a:avLst>
              <a:gd name="adj" fmla="val 148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13b59774742c7"/>
          <a:srcRect xmlns:a="http://schemas.openxmlformats.org/drawingml/2006/main" l="4252" t="0" r="425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400050"/>
            <a:ext cx="5124450" cy="5600700"/>
          </a:xfrm>
          <a:prstGeom xmlns:a="http://schemas.openxmlformats.org/drawingml/2006/main" prst="roundRect">
            <a:avLst>
              <a:gd name="adj" fmla="val 2230"/>
            </a:avLst>
          </a:prstGeom>
        </p:spPr>
      </p:pic>
    </p:spTree>
    <p:extLst>
      <p:ext uri="{BB962C8B-B14F-4D97-AF65-F5344CB8AC3E}">
        <p14:creationId xmlns:p14="http://schemas.microsoft.com/office/powerpoint/2010/main" val="7777115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0EF275-0C64-4B47-B913-9CC9E4E7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"/>
            <a:ext cx="11410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Technique coaching still happens too late for most athletes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A49BDB-0579-42E1-9AE8-E464C6CF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05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08EC39-F71F-4718-8680-C3D3AEFB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46100-587C-4741-8EEE-B6C253A6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28750"/>
            <a:ext cx="704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Athletes practice far more often than they are observed by a trained coach. The result is delayed correction, uneven quality, and weak follow-through between formal sessions.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97A51C-1CC4-44A6-8320-81B01F2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43250"/>
            <a:ext cx="3381375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24FB1A-9051-4AD0-ACEE-E3C18910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333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60CFC-6E61-4D34-9BCB-41B33FA2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3352800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Access gap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77BB4A-3D16-42F2-951D-5C8C1FCE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857625"/>
            <a:ext cx="3000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Quality coaching is scarce, scheduled, and expensive for everyday athletes.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1B433C-B5B6-44C2-8898-54B21643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381375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0E5C9-D76B-4FD9-950C-73B6A20F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33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1C0A04-BA2B-4C70-9A0F-0C376F1B2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352800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Feedback gap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DE9ECE-7A5D-44E2-9A25-6D651CCF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57625"/>
            <a:ext cx="3000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Most form errors are noticed after the rep, not at the moment they happen.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9FBD84-5FE7-4B5F-B043-109E6C29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143250"/>
            <a:ext cx="3381375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05ECC7-287E-4AD3-9812-88E1DFA0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333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5A1D1D-5BD5-4DDB-B248-AB7344E5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352800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Adherence gap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2639D9-A6C0-4BD5-93D5-57B160AF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857625"/>
            <a:ext cx="3000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Progress is hard to sustain when practice does not feel measurable.</a:t>
            </a:r>
          </a:p>
        </p:txBody>
      </p:sp>
    </p:spTree>
    <p:extLst>
      <p:ext uri="{BB962C8B-B14F-4D97-AF65-F5344CB8AC3E}">
        <p14:creationId xmlns:p14="http://schemas.microsoft.com/office/powerpoint/2010/main" val="12123217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E3507-4A7A-4245-8F81-745A2A87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"/>
            <a:ext cx="11410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Apexformz turns a phone camera into a live form coach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FC4B2F-8D9D-488B-8547-232FB114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05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3A0DA-27F3-48B4-9BE3-B8187C8A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30A80-A3A1-4209-867D-63347CF7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35255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The product converts ordinary video into coachable posture data, then returns concise corrections while the athlete is still moving.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C89EA-82AD-4217-BF40-27E5965E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0"/>
            <a:ext cx="2476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311A8-D2DE-4499-8C32-89C19A31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0480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4F3AD-54BF-4F60-BB03-DCAB42D4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3067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Capture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C8A7E1-2A7D-42DA-9695-C2A7C543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571875"/>
            <a:ext cx="2095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Browser AI reads pose, hand, and face landmarks on the athlete device.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0B0C3-CBD2-450C-99FD-08670728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857500"/>
            <a:ext cx="2476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BC340A-CE64-4767-968E-E04977F3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480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4C9C84-DC3B-4AE8-8BED-5219B8C7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067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Analyze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FBD79C-1759-4A77-AD0F-A1B30726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571875"/>
            <a:ext cx="2095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 rules engine compares joint angles, phase timing, and kinetic sequence.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085E21-CFF3-45EB-8EE8-70111E38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857500"/>
            <a:ext cx="2476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0B744A-7233-4672-86BB-DEEBB021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480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4B65C-1FBD-48D7-8CE2-B9FBD240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067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Coach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FA7FA9-6383-487C-8056-0B0A250B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571875"/>
            <a:ext cx="2095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The app shows score, priority issues, and voice guidance without waiting for a trainer.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59D732-F26E-438C-AB8F-5CED3829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57500"/>
            <a:ext cx="2476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5B0619-82AE-4DF5-996E-6C94B0CD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480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47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475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004763-9FCB-4DD3-AE3A-E693ED2E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067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Retain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A0F3C1-B612-4E5A-90A5-90BB4656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571875"/>
            <a:ext cx="2095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Sessions become progress, XP, streaks, achievements, and circle motivation.</a:t>
            </a:r>
          </a:p>
        </p:txBody>
      </p:sp>
    </p:spTree>
    <p:extLst>
      <p:ext uri="{BB962C8B-B14F-4D97-AF65-F5344CB8AC3E}">
        <p14:creationId xmlns:p14="http://schemas.microsoft.com/office/powerpoint/2010/main" val="16588536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20BE1E-30DE-48EA-A577-BAFC832D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"/>
            <a:ext cx="11410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MVP already covers a multi-sport coaching surface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FC7D56-7E04-4ECE-9954-335E25AC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05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79C1E-0BF7-4626-BB22-66B8C87D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6FFCCC-33DC-4FCF-BF31-6D9B2AB2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09675"/>
            <a:ext cx="800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Apexformz is not a single-pose demo. The repository contains a multi-service product, sport-specific posture libraries, and dynamic movement definitions.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81100-3C8B-4ABE-90C7-19442487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0"/>
            <a:ext cx="34290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E5E39-5D16-4ADC-BE00-952C8D93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238500"/>
            <a:ext cx="2895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4D27F1-71DC-4695-96B3-22381B25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095750"/>
            <a:ext cx="2895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sports supported: cricket, tennis, yoga, running, boxing, and football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C50D5-16A4-407E-B1F6-1B2E1455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34290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7C768B-237D-4DF4-9451-93B128C9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38500"/>
            <a:ext cx="2895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2B196-1239-4FAC-BDD3-FDA22235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95750"/>
            <a:ext cx="2895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static pose blueprints for frame-by-frame form comparison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0BE674-2DDE-4F71-99E7-DC6733CF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857500"/>
            <a:ext cx="34290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F4293-1E4F-428F-BC20-F85126D0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238500"/>
            <a:ext cx="2895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EDE19B-EA0E-4956-83A6-57EE33A6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095750"/>
            <a:ext cx="2895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dynamic movement blueprints for multi-phase skill analysis</a:t>
            </a:r>
          </a:p>
        </p:txBody>
      </p:sp>
    </p:spTree>
    <p:extLst>
      <p:ext uri="{BB962C8B-B14F-4D97-AF65-F5344CB8AC3E}">
        <p14:creationId xmlns:p14="http://schemas.microsoft.com/office/powerpoint/2010/main" val="12083934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AA4392-5933-4329-9575-B493C746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"/>
            <a:ext cx="11410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athlete sees scored correction during the rep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0E18A-9A83-4E23-948E-1498631A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05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2DBD99-439B-421F-943D-C0106177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2E456E-E0CA-42D9-AA80-E13608C6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287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The live training page combines camera view, skeleton overlay, score ring, high-priority corrections, target posture, and voice prompts into one coaching loop.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43d2918076475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0" y="1257300"/>
            <a:ext cx="4743450" cy="4743450"/>
          </a:xfrm>
          <a:prstGeom xmlns:a="http://schemas.openxmlformats.org/drawingml/2006/main" prst="roundRect">
            <a:avLst>
              <a:gd name="adj" fmla="val 241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97821-7FB3-4767-8990-C5A06B55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0"/>
            <a:ext cx="2476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D71E4-BB5F-4981-9E8B-A139B0E0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5242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47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4757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871949-72FE-4199-A569-34524CE6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35433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04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Prioritized issues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513E3B-07D5-4850-8C11-EB0FEB4C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48125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56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Only medium and high severity corrections are surfaced to avoid overwhelming the athlete.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922798-8D5B-44FC-8408-904CA513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33750"/>
            <a:ext cx="24765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37397B-1A6C-4263-B774-AF4BA8CD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242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8AD9AA-2781-431E-A1FC-4ED6082D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5433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 cueing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7F9760-8E06-461F-8A6F-8E69FFB3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48125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49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Speech guidance is throttled and sequential so the user hears one actionable fix at a time.</a:t>
            </a:r>
          </a:p>
        </p:txBody>
      </p:sp>
    </p:spTree>
    <p:extLst>
      <p:ext uri="{BB962C8B-B14F-4D97-AF65-F5344CB8AC3E}">
        <p14:creationId xmlns:p14="http://schemas.microsoft.com/office/powerpoint/2010/main" val="5417607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B6BB64-11E8-4BE1-AAB1-C63F605C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"/>
            <a:ext cx="11410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architecture separates fast perception from coaching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EF677C-A4A0-47DF-BC76-96CB00A3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05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64A9F-1B9F-4D6E-92ED-DED479F0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FC2AD-3BF0-464B-A073-8A0159EE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57300"/>
            <a:ext cx="7524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Video frames stay local. The system streams abstract keypoints through a WebSocket relay to a dedicated AI service, then persists sessions and frame evidence for progress tracking.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BBF33-1E5B-4E3B-A53C-ABE26EC6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905125"/>
            <a:ext cx="23812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80C503-6EDC-4155-8F3A-FB91207D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1337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EF1DCB-8A77-4AE0-9CEB-7F13386D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6290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MediaPipe Holistic detects pose, hands, and face; frames are downscaled for speed.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84DA3-E8CF-4DE3-9B07-4C88121E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86715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DB0A2-E654-4620-ACC2-7B0C0AAC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7623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CD4918-1ADD-4E9F-81FF-4553E918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905125"/>
            <a:ext cx="23812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FC873F-1DB0-49CA-848F-CDD7481C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1337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77E08-B73A-4CB3-9C2E-E05D4BAE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6290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Socket.IO authenticates sessions and forwards keypoints to the AI service.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78B48-4E12-473A-8AD8-3F973B7D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86715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F2872E-7FB5-4948-AB94-7A855B33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7623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5AB8F-3FEB-49F4-916F-5FB9B9D9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905125"/>
            <a:ext cx="23812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9710FD-0942-47B4-9368-BEF4718A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337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AI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DDA723-658E-4407-AF44-1B659DD6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290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FastAPI analyzers return score, severity, joint angles, and coaching issues.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DD2D64-E00C-4958-9A32-C13681BE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86715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4E0260-CBE3-4B3C-908C-A9D56A12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76237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714CCE-82A3-4107-A405-C98C1111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905125"/>
            <a:ext cx="23812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834EFE-B926-46A7-957C-1B48F54B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1337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Database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0C5A13-ED86-4C29-BF5A-020B0165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6290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PostgreSQL stores sessions, frames, XP, streaks, circles, and leaderboards.</a:t>
            </a:r>
          </a:p>
        </p:txBody>
      </p:sp>
    </p:spTree>
    <p:extLst>
      <p:ext uri="{BB962C8B-B14F-4D97-AF65-F5344CB8AC3E}">
        <p14:creationId xmlns:p14="http://schemas.microsoft.com/office/powerpoint/2010/main" val="1994500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217681-242C-42A7-A9AA-C170FA2F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"/>
            <a:ext cx="11410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Dynamic analysis is the start of the moat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40B55-918F-4F43-AE12-DED0DCA3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05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BED3D-FEC6-4C01-86B0-F6AE9315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45D39F-E2EF-4030-9BC6-0B454F8A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38250"/>
            <a:ext cx="609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Static angle checks tell athletes what a position looks like. Dynamic analysis evaluates whether the movement sequence is actually being performed well.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792faae15b4f4b"/>
          <a:srcRect xmlns:a="http://schemas.openxmlformats.org/drawingml/2006/main" l="11588" t="0" r="1158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67550" y="933450"/>
            <a:ext cx="47244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9F822-A412-4427-B35E-B270DE78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62250"/>
            <a:ext cx="195262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07ACB-EE7C-4595-8E2C-00919F98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952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2CE86-55B2-49BB-8DDF-DFEB027E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2971800"/>
            <a:ext cx="1000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590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Phase detection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54740-AB99-4C0C-B5C1-D56D945D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476625"/>
            <a:ext cx="1571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71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 finite-state machine tracks stance, load, impact, follow-through, or cycle stages.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050E5C-8851-46A9-9431-03D90AF5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762250"/>
            <a:ext cx="195262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AE6B4E-3789-4EB6-96A6-224D3513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952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554CDD-469F-4164-8A23-AB909001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971800"/>
            <a:ext cx="1000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16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Kinetic chain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96802-F750-44BA-83FB-59A76D69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76625"/>
            <a:ext cx="1571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1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The engine checks whether hips, shoulders, and arms fire in the expected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CE451A-96E1-4263-9CF4-8C7F8819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762250"/>
            <a:ext cx="1952625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D5129-09E8-42D3-80C4-EA6FF102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952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433F51-910D-4B74-B9F8-2F5ADF884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971800"/>
            <a:ext cx="1000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938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Fluidity score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32FBE8-F3D2-4FF9-8DC8-B687D84B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76625"/>
            <a:ext cx="1571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38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Motion smoothness is estimated from changing angular velocities over time.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AE84FC-6B74-47BE-A3C5-06BA53D3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57800"/>
            <a:ext cx="614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This shifts Apexformz from pose matching toward sport-specific movement intelligence.</a:t>
            </a:r>
          </a:p>
        </p:txBody>
      </p:sp>
    </p:spTree>
    <p:extLst>
      <p:ext uri="{BB962C8B-B14F-4D97-AF65-F5344CB8AC3E}">
        <p14:creationId xmlns:p14="http://schemas.microsoft.com/office/powerpoint/2010/main" val="13095903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E1AA4F-1B2D-45C1-839F-17B7F7F8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"/>
            <a:ext cx="11410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Apexformz turns practice into retained behavior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A1E65D-E20A-45D0-BF54-017EB990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05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88B12-50D4-471E-BA11-D177ACEA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91C9A5-85F6-4C3B-8C2F-D8B83859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57300"/>
            <a:ext cx="800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The product does not stop at correction. It uses progress mechanics and small-group accountability to make training measurable, repeatable, and social.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08F11C-B6C8-4372-9216-B6D11CC7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67000"/>
            <a:ext cx="55340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4B8F1-A0A5-43EF-8DD3-0AA611E3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956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XP and levels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73981-0B6A-4767-9D73-59FC8E7C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76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Session duration and score convert into XP, levels, and visible progression.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51A48-6846-4771-B9F5-E0CEC2C0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67000"/>
            <a:ext cx="55340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7F0DC-CC1C-49B5-A2AD-56A5080C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8956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Achievements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05705-D1B9-4893-B5D9-C7AE1A07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276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Milestones reward first sessions, streaks, perfect scores, and volume.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31994-0338-48A3-9300-FC4A33B5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57700"/>
            <a:ext cx="55340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62F32-9781-4F09-89A4-910E898F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863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Validated streaks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BE65B8-A1FC-4024-9FEE-77523AA9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673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Streaks count only when duration and sport-specific quality thresholds are met.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C6B5A3-24E6-442C-8AD5-D8A75FDF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57700"/>
            <a:ext cx="55340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5D8404-0CCC-4F14-A43A-EAF43FEF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6863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rPr>
              <a:t>Training circles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2DED32-E013-4955-A15B-0E257C37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673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Shared streaks, health scores, roles, and nudges create peer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19452043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55832-404E-489E-A5CC-154D1B3A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"/>
            <a:ext cx="11410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wedge is coaching between formal sessions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CF50AB-EF34-4167-BFE9-D9F5F980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05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2798D-90FA-47F6-A2B2-11D7D5CD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8D3F2-04F3-4B7B-85E9-B00200A5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57300"/>
            <a:ext cx="800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Apexformz can enter where athletes already practice alone, then expand into coach-led programs once the data trail proves improvement.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861346-04A0-456C-A7C3-CDBEDB1E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0"/>
            <a:ext cx="3571875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F98A41-FE77-4020-BB19-5814262F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62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Individual athletes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F25525-48A9-4D35-AFC8-C9492ABB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90950"/>
            <a:ext cx="30003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Home practice for cricket, tennis, yoga, running, boxing, and football learners who need immediate form feedback.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3E838-98A5-4096-8603-3BC7331F4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2197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457E0-3393-4082-A2FA-FBB609B3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57500"/>
            <a:ext cx="3571875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308D1-4BC3-4475-B34D-D69FCE08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62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Academies and clubs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C76A16-2707-4917-834A-428AAC1D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90950"/>
            <a:ext cx="30003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Coach dashboards can convert session histories into between-practice assignments and measurable development plans.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28F7D2-4B40-4D8D-B0B1-D3065542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2197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7CB1B-30A8-43E4-8B73-55F66710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857500"/>
            <a:ext cx="3571875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D6875-81B3-4739-958E-0DC6623E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162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Wellness and fitness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6523FE-8F46-405D-AE01-B2529AFC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790950"/>
            <a:ext cx="30003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Static poses, squats, planks, gait, and posture routines create an entry point outside competitive sport.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460F8-3FF7-4423-A4CD-B2E9C638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2197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181537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26F6CB-AC66-440F-ACE7-04B20D23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"/>
            <a:ext cx="11410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Revenue can scale from users to teams to infrastructure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742B3-7CBA-4D05-9E55-FCE9D4DA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05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1A7D1-295F-4F15-804F-0B953D77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D0E94-0C52-4A22-A52F-0D322F3C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382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A0F1E"/>
                </a:solidFill>
                <a:latin typeface="Helvetica Neue"/>
                <a:ea typeface="Helvetica Neue"/>
                <a:cs typeface="Helvetica Neue"/>
              </a:rPr>
              <a:t>The same coaching engine can support direct subscriptions, coach-managed deployments, and eventually biomechanics APIs or white-label integrations.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2F0F35-9D51-4F6D-B751-271BEFAC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357187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D2F9E-EBCB-43A7-97AA-C9B3BC76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384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Athlete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301827-7FC1-4BE1-90B0-2EE11DC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24250"/>
            <a:ext cx="3000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Freemium onboarding, paid unlimited analysis, sport packs, and advanced training history.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84547-85AE-4C32-A610-DB9AD2A8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1012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D4FF"/>
                </a:solidFill>
                <a:latin typeface="Helvetica Neue"/>
                <a:ea typeface="Helvetica Neue"/>
                <a:cs typeface="Helvetica Neue"/>
              </a:rPr>
              <a:t>B2C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441F7-E70F-4C8D-937E-FA7EA191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76500"/>
            <a:ext cx="357187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A6ACE3-FFFB-4F67-9B66-CCDEFCB7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384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Academy toolkit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96C34D-3636-49FC-9A00-1DECFCD2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24250"/>
            <a:ext cx="3000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Coach seats, team rosters, assigned drills, progress review, and circle-based accountability.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23BE93-557B-4B2D-A596-37F6800B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81012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FF88"/>
                </a:solidFill>
                <a:latin typeface="Helvetica Neue"/>
                <a:ea typeface="Helvetica Neue"/>
                <a:cs typeface="Helvetica Neue"/>
              </a:rPr>
              <a:t>B2B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68DB7E-78FA-47FB-85A7-B1B4A3A7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476500"/>
            <a:ext cx="357187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F94C03-71D9-430D-8425-B4A2F180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8384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Motion intelligence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E1566D-162B-4CE5-860C-0E7AB54A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524250"/>
            <a:ext cx="3000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Scoring, pose blueprint, dynamic phase, and kinetic-chain services for partners.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5E2FB1-9749-4C9D-8B5E-FB4FFED6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81012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Platform</a:t>
            </a:r>
          </a:p>
        </p:txBody>
      </p:sp>
    </p:spTree>
    <p:extLst>
      <p:ext uri="{BB962C8B-B14F-4D97-AF65-F5344CB8AC3E}">
        <p14:creationId xmlns:p14="http://schemas.microsoft.com/office/powerpoint/2010/main" val="76889290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CFF2D1-A5F4-4D2F-80B4-15DA3CB5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810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APEXFORMZ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7FDBF1-B188-4605-92A9-BE9FC432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38300"/>
            <a:ext cx="7239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Funding now turns the MVP into a defensible coaching platform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DAC09-6097-459D-8EB7-E4A25848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24250"/>
            <a:ext cx="6334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Near-term capital should harden reliability, validate paid demand with pilots, and expand the movement intelligence library.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7D8BE6-FE31-4C3B-854C-73A07812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123950"/>
            <a:ext cx="39814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029A9C-1D8C-4EE7-A6CC-E8F3650F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276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 validation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E293E-442C-4466-A757-AFAA6D29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716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9277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Run structured pilots with academies and committed individual athletes.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444EF-BEFD-4E1A-ADF6-437AA00D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28850"/>
            <a:ext cx="39814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8E6063-552C-4240-ABC5-C4353845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81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Technical depth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DFB63E-81CB-474A-BD2B-0FA04378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765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30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Hire computer-vision, biomechanics, and product engineering capacity.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864111-EA71-4CAB-81A4-FBDEB134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33750"/>
            <a:ext cx="39814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86C31-E345-48AE-A20B-B5C8CD37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861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Data advantage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864E39-6C8C-4D49-969B-EA9BEF0E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814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78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Build consented movement datasets and coach-reviewed scoring standards.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4B6280-FE5B-4495-9F2A-D860A6C0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38650"/>
            <a:ext cx="39814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53B8A-C125-4628-8148-C4140DDB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910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Commercial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922404-392B-4520-AAFA-02A2D857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863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488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Package athlete, academy, and partner offerings with clear retention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011927-7446-4A9B-A2DB-945658A0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0060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92D4A2-91B4-4FFD-9097-C3CC4916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673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Seeking seed capital and pilot partners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5D8757-F928-4792-A91D-AAA4944F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960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F6673"/>
                </a:solidFill>
                <a:latin typeface="Helvetica Neue"/>
                <a:ea typeface="Helvetica Neue"/>
                <a:cs typeface="Helvetica Neue"/>
              </a:rPr>
              <a:t>Apexformz | AI technique coaching</a:t>
            </a:r>
          </a:p>
        </p:txBody>
      </p:sp>
    </p:spTree>
    <p:extLst>
      <p:ext uri="{BB962C8B-B14F-4D97-AF65-F5344CB8AC3E}">
        <p14:creationId xmlns:p14="http://schemas.microsoft.com/office/powerpoint/2010/main" val="8289078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2026-07-24T07:48:34.0480000Z</dcterms:created>
  <dcterms:modified xsi:type="dcterms:W3CDTF">2026-07-24T07:48:34.0480000Z</dcterms:modified>
</coreProperties>
</file>