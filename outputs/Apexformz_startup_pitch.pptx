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bd88baa2334aa6" /><Relationship Type="http://schemas.openxmlformats.org/officeDocument/2006/relationships/extended-properties" Target="/docProps/app.xml" Id="Rc8c54233f788477b" /><Relationship Type="http://schemas.openxmlformats.org/officeDocument/2006/relationships/officeDocument" Target="/ppt/presentation.xml" Id="R81644a4bc1b243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c6e6ec5f534e1b"/>
  </p:sldMasterIdLst>
  <p:notesMasterIdLst>
    <p:notesMasterId xmlns:r="http://schemas.openxmlformats.org/officeDocument/2006/relationships" r:id="R6e83d2eb3e774b5e"/>
  </p:notesMasterIdLst>
  <p:sldIdLst>
    <p:sldId xmlns:r="http://schemas.openxmlformats.org/officeDocument/2006/relationships" id="256" r:id="Rd62e65adee8040d6"/>
    <p:sldId xmlns:r="http://schemas.openxmlformats.org/officeDocument/2006/relationships" id="257" r:id="R311a5ef19b0543cc"/>
    <p:sldId xmlns:r="http://schemas.openxmlformats.org/officeDocument/2006/relationships" id="258" r:id="Rd73d8fefb7df4fff"/>
    <p:sldId xmlns:r="http://schemas.openxmlformats.org/officeDocument/2006/relationships" id="259" r:id="R11af637decd24e94"/>
    <p:sldId xmlns:r="http://schemas.openxmlformats.org/officeDocument/2006/relationships" id="260" r:id="Rcc570fcc51e344cf"/>
    <p:sldId xmlns:r="http://schemas.openxmlformats.org/officeDocument/2006/relationships" id="261" r:id="R807df4205209499a"/>
    <p:sldId xmlns:r="http://schemas.openxmlformats.org/officeDocument/2006/relationships" id="262" r:id="R515d547bf7074d12"/>
    <p:sldId xmlns:r="http://schemas.openxmlformats.org/officeDocument/2006/relationships" id="263" r:id="R3adfd61cf96e44b7"/>
    <p:sldId xmlns:r="http://schemas.openxmlformats.org/officeDocument/2006/relationships" id="264" r:id="R97c1c58afe154cce"/>
    <p:sldId xmlns:r="http://schemas.openxmlformats.org/officeDocument/2006/relationships" id="265" r:id="R4ac82eaa868042a3"/>
    <p:sldId xmlns:r="http://schemas.openxmlformats.org/officeDocument/2006/relationships" id="266" r:id="Rd50f5d1df57446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f7ff95d1ef4f0b" /><Relationship Type="http://schemas.openxmlformats.org/officeDocument/2006/relationships/slideMaster" Target="/ppt/slideMasters/slideMaster1.xml" Id="R7fc6e6ec5f534e1b" /><Relationship Type="http://schemas.openxmlformats.org/officeDocument/2006/relationships/notesMaster" Target="/ppt/notesMasters/notesMaster1.xml" Id="R6e83d2eb3e774b5e" /><Relationship Type="http://schemas.openxmlformats.org/officeDocument/2006/relationships/presProps" Target="/ppt/presProps.xml" Id="R3ee7cbd2b8444a32" /><Relationship Type="http://schemas.openxmlformats.org/officeDocument/2006/relationships/tableStyles" Target="/ppt/tableStyles.xml" Id="R8a4b7e9a72594b0f" /><Relationship Type="http://schemas.openxmlformats.org/officeDocument/2006/relationships/slide" Target="/ppt/slides/slide1.xml" Id="Rd62e65adee8040d6" /><Relationship Type="http://schemas.openxmlformats.org/officeDocument/2006/relationships/slide" Target="/ppt/slides/slide2.xml" Id="R311a5ef19b0543cc" /><Relationship Type="http://schemas.openxmlformats.org/officeDocument/2006/relationships/slide" Target="/ppt/slides/slide3.xml" Id="Rd73d8fefb7df4fff" /><Relationship Type="http://schemas.openxmlformats.org/officeDocument/2006/relationships/slide" Target="/ppt/slides/slide4.xml" Id="R11af637decd24e94" /><Relationship Type="http://schemas.openxmlformats.org/officeDocument/2006/relationships/slide" Target="/ppt/slides/slide5.xml" Id="Rcc570fcc51e344cf" /><Relationship Type="http://schemas.openxmlformats.org/officeDocument/2006/relationships/slide" Target="/ppt/slides/slide6.xml" Id="R807df4205209499a" /><Relationship Type="http://schemas.openxmlformats.org/officeDocument/2006/relationships/slide" Target="/ppt/slides/slide7.xml" Id="R515d547bf7074d12" /><Relationship Type="http://schemas.openxmlformats.org/officeDocument/2006/relationships/slide" Target="/ppt/slides/slide8.xml" Id="R3adfd61cf96e44b7" /><Relationship Type="http://schemas.openxmlformats.org/officeDocument/2006/relationships/slide" Target="/ppt/slides/slide9.xml" Id="R97c1c58afe154cce" /><Relationship Type="http://schemas.openxmlformats.org/officeDocument/2006/relationships/slide" Target="/ppt/slides/slide10.xml" Id="R4ac82eaa868042a3" /><Relationship Type="http://schemas.openxmlformats.org/officeDocument/2006/relationships/slide" Target="/ppt/slides/slide11.xml" Id="Rd50f5d1df57446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b7cb7f0642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d518d69a7e47ff" /><Relationship Type="http://schemas.openxmlformats.org/officeDocument/2006/relationships/notesMaster" Target="/ppt/notesMasters/notesMaster1.xml" Id="Rc9158e6e364546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6b1389dfc4e2e" /><Relationship Type="http://schemas.openxmlformats.org/officeDocument/2006/relationships/notesMaster" Target="/ppt/notesMasters/notesMaster1.xml" Id="R5101c8025435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349415809442cb" /><Relationship Type="http://schemas.openxmlformats.org/officeDocument/2006/relationships/notesMaster" Target="/ppt/notesMasters/notesMaster1.xml" Id="Rf6667c667934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c97eb44b74f96" /><Relationship Type="http://schemas.openxmlformats.org/officeDocument/2006/relationships/notesMaster" Target="/ppt/notesMasters/notesMaster1.xml" Id="R2d2abde9f66640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bed50306c64ea0" /><Relationship Type="http://schemas.openxmlformats.org/officeDocument/2006/relationships/notesMaster" Target="/ppt/notesMasters/notesMaster1.xml" Id="R71bbaae3f3e045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f319ba94d74326" /><Relationship Type="http://schemas.openxmlformats.org/officeDocument/2006/relationships/notesMaster" Target="/ppt/notesMasters/notesMaster1.xml" Id="Ra192bb0573d64c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e98fcca9fe4887" /><Relationship Type="http://schemas.openxmlformats.org/officeDocument/2006/relationships/notesMaster" Target="/ppt/notesMasters/notesMaster1.xml" Id="R9a804e65bb8d4d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2afa9d72804fa1" /><Relationship Type="http://schemas.openxmlformats.org/officeDocument/2006/relationships/notesMaster" Target="/ppt/notesMasters/notesMaster1.xml" Id="Rf8807aa3329a45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5d771eabdd4ba7" /><Relationship Type="http://schemas.openxmlformats.org/officeDocument/2006/relationships/notesMaster" Target="/ppt/notesMasters/notesMaster1.xml" Id="R96d2f3b5a4cd49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2ec4e26be64c87" /><Relationship Type="http://schemas.openxmlformats.org/officeDocument/2006/relationships/notesMaster" Target="/ppt/notesMasters/notesMaster1.xml" Id="Rccbdac38c7d944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7af5bc765245c3" /><Relationship Type="http://schemas.openxmlformats.org/officeDocument/2006/relationships/notesMaster" Target="/ppt/notesMasters/notesMaster1.xml" Id="Rf8872af7f03d41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README describes SmartCoach as an AI-powered sports training platform with real-time pose estimation.</a:t>
            </a:r>
          </a:p>
          <a:p xmlns:a="http://schemas.openxmlformats.org/drawingml/2006/main">
            <a:r>
              <a:t>Visual asset: apps/frontend/public/postures/cricket_cover_drive.png.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framing inferred from implemented product capabilities: real-time analysis, feedback, saved sessions, XP, streaks, and social circles.</a:t>
            </a:r>
          </a:p>
          <a:p xmlns:a="http://schemas.openxmlformats.org/drawingml/2006/main">
            <a:r>
              <a:t>Primary repo references: README.md; apps/frontend/src/app/page.tsx; apps/backend/prisma/schema.prisma.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Frontend training loop: apps/frontend/src/app/train/[sport]/page.tsx.</a:t>
            </a:r>
          </a:p>
          <a:p xmlns:a="http://schemas.openxmlformats.org/drawingml/2006/main">
            <a:r>
              <a:t>Pose capture: apps/frontend/src/hooks/useHolisticDetection.ts.</a:t>
            </a:r>
          </a:p>
          <a:p xmlns:a="http://schemas.openxmlformats.org/drawingml/2006/main">
            <a:r>
              <a:t>Voice coaching: apps/frontend/src/hooks/useVoiceCoaching.ts.</a:t>
            </a:r>
          </a:p>
          <a:p xmlns:a="http://schemas.openxmlformats.org/drawingml/2006/main">
            <a:r>
              <a:t>Backend session persistence: apps/backend/src/routes/sessions.ts.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Counts computed from apps/ai-service/app/data/reference_poses.json and apps/ai-service/app/data/reference_movements.json.</a:t>
            </a:r>
          </a:p>
          <a:p xmlns:a="http://schemas.openxmlformats.org/drawingml/2006/main">
            <a:r>
              <a:t>Sport selection UI: apps/frontend/src/app/dashboard/page.tsx and apps/frontend/src/app/train/[sport]/setup/page.tsx.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Live session UI: apps/frontend/src/app/train/[sport]/page.tsx.</a:t>
            </a:r>
          </a:p>
          <a:p xmlns:a="http://schemas.openxmlformats.org/drawingml/2006/main">
            <a:r>
              <a:t>Feedback UI: apps/frontend/src/components/ActionableFeedback.tsx.</a:t>
            </a:r>
          </a:p>
          <a:p xmlns:a="http://schemas.openxmlformats.org/drawingml/2006/main">
            <a:r>
              <a:t>Voice logic: apps/frontend/src/hooks/useVoiceCoaching.ts.</a:t>
            </a:r>
          </a:p>
          <a:p xmlns:a="http://schemas.openxmlformats.org/drawingml/2006/main">
            <a:r>
              <a:t>Visual asset: apps/frontend/public/postures/tennis_serve_trophy.png.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Architecture summary: README.md and docker-compose.yml.</a:t>
            </a:r>
          </a:p>
          <a:p xmlns:a="http://schemas.openxmlformats.org/drawingml/2006/main">
            <a:r>
              <a:t>Browser perception: apps/frontend/src/hooks/useHolisticDetection.ts.</a:t>
            </a:r>
          </a:p>
          <a:p xmlns:a="http://schemas.openxmlformats.org/drawingml/2006/main">
            <a:r>
              <a:t>WebSocket relay: apps/backend/src/websocket/sessionRelay.ts.</a:t>
            </a:r>
          </a:p>
          <a:p xmlns:a="http://schemas.openxmlformats.org/drawingml/2006/main">
            <a:r>
              <a:t>AI service: apps/ai-service/main.py and apps/ai-service/app/routes/analysis.py.</a:t>
            </a:r>
          </a:p>
          <a:p xmlns:a="http://schemas.openxmlformats.org/drawingml/2006/main">
            <a:r>
              <a:t>Persistence model: apps/backend/prisma/schema.prisma.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Dynamic analyzer: apps/ai-service/app/services/dynamic/dynamic_analyzer.py.</a:t>
            </a:r>
          </a:p>
          <a:p xmlns:a="http://schemas.openxmlformats.org/drawingml/2006/main">
            <a:r>
              <a:t>Phase detector: apps/ai-service/app/services/dynamic/phase_detector.py.</a:t>
            </a:r>
          </a:p>
          <a:p xmlns:a="http://schemas.openxmlformats.org/drawingml/2006/main">
            <a:r>
              <a:t>Kinetic chain validator: apps/ai-service/app/services/dynamic/kinetic_chain.py.</a:t>
            </a:r>
          </a:p>
          <a:p xmlns:a="http://schemas.openxmlformats.org/drawingml/2006/main">
            <a:r>
              <a:t>Visual asset: apps/frontend/public/postures/yoga_squats.png.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Gamification engine: apps/backend/src/utils/gamification.ts.</a:t>
            </a:r>
          </a:p>
          <a:p xmlns:a="http://schemas.openxmlformats.org/drawingml/2006/main">
            <a:r>
              <a:t>Enhanced streak logic: apps/backend/src/services/streak.service.ts.</a:t>
            </a:r>
          </a:p>
          <a:p xmlns:a="http://schemas.openxmlformats.org/drawingml/2006/main">
            <a:r>
              <a:t>Circle logic: apps/backend/src/services/circle.service.ts; apps/backend/src/routes/circles.ts.</a:t>
            </a:r>
          </a:p>
          <a:p xmlns:a="http://schemas.openxmlformats.org/drawingml/2006/main">
            <a:r>
              <a:t>Dashboard UI: apps/frontend/src/app/dashboard/page.tsx.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Customer wedge inferred from repository-supported sport coverage, posture library, saved sessions, and circle/social mechanics.</a:t>
            </a:r>
          </a:p>
          <a:p xmlns:a="http://schemas.openxmlformats.org/drawingml/2006/main">
            <a:r>
              <a:t>Repo references: apps/frontend/src/app/train/[sport]/setup/page.tsx; apps/backend/prisma/schema.prisma.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Business model is a recommended pitch framing inferred from the implemented user app, session data model, circle model, and AI service architecture.</a:t>
            </a:r>
          </a:p>
          <a:p xmlns:a="http://schemas.openxmlformats.org/drawingml/2006/main">
            <a:r>
              <a:t>No external pricing or revenue claims are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Roadmap and ask are pitch recommendations based on current MVP capabilities observed in the repository.</a:t>
            </a:r>
          </a:p>
          <a:p xmlns:a="http://schemas.openxmlformats.org/drawingml/2006/main">
            <a:r>
              <a:t>No funding amount, revenue, or user traction is asserted because the repository does not contain those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256f4259994a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1bb6aee544c10" /><Relationship Type="http://schemas.openxmlformats.org/officeDocument/2006/relationships/slideLayout" Target="/ppt/slideLayouts/slideLayout1.xml" Id="R369e5de517194d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9e5de517194d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e06298bb34f25" /><Relationship Type="http://schemas.openxmlformats.org/officeDocument/2006/relationships/image" Target="/ppt/media/image.jpeg" Id="R9a864c9151f64af7" /><Relationship Type="http://schemas.openxmlformats.org/officeDocument/2006/relationships/notesSlide" Target="/ppt/notesSlides/notesSlide1.xml" Id="Rd756cbb3f0de45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03dfb2b25644e0" /><Relationship Type="http://schemas.openxmlformats.org/officeDocument/2006/relationships/notesSlide" Target="/ppt/notesSlides/notesSlide2.xml" Id="R53c2915854614f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c0dabe1254d63" /><Relationship Type="http://schemas.openxmlformats.org/officeDocument/2006/relationships/notesSlide" Target="/ppt/notesSlides/notesSlide3.xml" Id="R608c6e5988434e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bce65f8d84b2c" /><Relationship Type="http://schemas.openxmlformats.org/officeDocument/2006/relationships/notesSlide" Target="/ppt/notesSlides/notesSlide4.xml" Id="R2a6eb730766f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ecdd10cb84f18" /><Relationship Type="http://schemas.openxmlformats.org/officeDocument/2006/relationships/image" Target="/ppt/media/image2.jpeg" Id="Rce6a2fc52b294770" /><Relationship Type="http://schemas.openxmlformats.org/officeDocument/2006/relationships/notesSlide" Target="/ppt/notesSlides/notesSlide5.xml" Id="Rff499f148fb447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2537fe2404ad2" /><Relationship Type="http://schemas.openxmlformats.org/officeDocument/2006/relationships/notesSlide" Target="/ppt/notesSlides/notesSlide6.xml" Id="Rd758daf0da32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b5c6ab29a49d9" /><Relationship Type="http://schemas.openxmlformats.org/officeDocument/2006/relationships/image" Target="/ppt/media/image.png" Id="R383cc1dcff814290" /><Relationship Type="http://schemas.openxmlformats.org/officeDocument/2006/relationships/notesSlide" Target="/ppt/notesSlides/notesSlide7.xml" Id="R95fe8b55d8ca42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a0b81de27462f" /><Relationship Type="http://schemas.openxmlformats.org/officeDocument/2006/relationships/notesSlide" Target="/ppt/notesSlides/notesSlide8.xml" Id="Rb2db0d995aa4457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e3fa353d4bee" /><Relationship Type="http://schemas.openxmlformats.org/officeDocument/2006/relationships/notesSlide" Target="/ppt/notesSlides/notesSlide9.xml" Id="R1da756f34207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2664bec654823" /><Relationship Type="http://schemas.openxmlformats.org/officeDocument/2006/relationships/notesSlide" Target="/ppt/notesSlides/notesSlide10.xml" Id="R3d86305901924a3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79678f58e44da" /><Relationship Type="http://schemas.openxmlformats.org/officeDocument/2006/relationships/notesSlide" Target="/ppt/notesSlides/notesSlide11.xml" Id="R02b30627e98044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E0A40-606A-4DB1-8519-9A9EED0E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4C656-38C8-437B-9380-0A1CC79C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95450"/>
            <a:ext cx="5857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form coaching that works wherever an athlete trains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F119E-B4BC-4C4C-9F06-0997244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196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 startup pitch for browser-based technique intelligence, real-time feedback, and habit-forming practice.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93B16-8972-479E-85A4-85C6170C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2455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19E54-604A-4E2A-82E5-0D93D42B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15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Pitch deck | July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1723D-A422-476D-A072-A44858FD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"/>
            <a:ext cx="5124450" cy="5600700"/>
          </a:xfrm>
          <a:prstGeom xmlns:a="http://schemas.openxmlformats.org/drawingml/2006/main" prst="roundRect">
            <a:avLst>
              <a:gd name="adj" fmla="val 148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64c9151f64af7"/>
          <a:srcRect xmlns:a="http://schemas.openxmlformats.org/drawingml/2006/main" l="4252" t="0" r="42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400050"/>
            <a:ext cx="5124450" cy="5600700"/>
          </a:xfrm>
          <a:prstGeom xmlns:a="http://schemas.openxmlformats.org/drawingml/2006/main" prst="roundRect">
            <a:avLst>
              <a:gd name="adj" fmla="val 2230"/>
            </a:avLst>
          </a:prstGeom>
        </p:spPr>
      </p:pic>
    </p:spTree>
    <p:extLst>
      <p:ext uri="{BB962C8B-B14F-4D97-AF65-F5344CB8AC3E}">
        <p14:creationId xmlns:p14="http://schemas.microsoft.com/office/powerpoint/2010/main" val="1158197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582200-A059-40E1-8173-E45EE1EB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Technique coaching still happens too late for most athletes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8D5BF-BA53-4473-AAB4-D0A02C16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45A45B-BD6C-46E3-9BD3-FF62DED9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40300F-F198-43E5-B73F-0EF68F88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Athletes practice far more often than they are observed by a trained coach. The result is delayed correction, uneven quality, and weak follow-through between formal sessions.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D2C55-895A-47C9-ABC7-1297A78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143250"/>
            <a:ext cx="3381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3B9D0-6145-4689-81F2-0B6CC46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33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21851-3AD7-4A69-B392-9F5C6E5B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3528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CEEC09-8229-452F-8F7B-A7D88D6F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857625"/>
            <a:ext cx="300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Quality coaching is scarce, scheduled, and expensive for everyday athletes.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898F3-C73A-4668-992C-D12596A0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3381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3FF277-F939-40F4-974B-AA749AB2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33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314B6-E6FB-4504-8658-AE4D71BC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528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Feedback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3A69B-7DCE-4EDF-BD83-15B8A3EB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57625"/>
            <a:ext cx="300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Most form errors are noticed after the rep, not at the moment they happen.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099F64-777D-4D6E-90EE-70007F6C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43250"/>
            <a:ext cx="338137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5FA0B-B9B8-4AD6-B6B9-160570A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333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3A0A5-A527-4C8B-8BAA-77608A25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352800"/>
            <a:ext cx="242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Adherence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839AB-F013-4DC2-A563-8B3B9B16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857625"/>
            <a:ext cx="300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Progress is hard to sustain when practice does not feel measurable.</a:t>
            </a:r>
          </a:p>
        </p:txBody>
      </p:sp>
    </p:spTree>
    <p:extLst>
      <p:ext uri="{BB962C8B-B14F-4D97-AF65-F5344CB8AC3E}">
        <p14:creationId xmlns:p14="http://schemas.microsoft.com/office/powerpoint/2010/main" val="1569562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3EDFF-5E61-4390-8E80-845AEDC7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Apexformz turns a phone camera into a live form 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708E5-5BE4-4BF3-BBCD-AA801F80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BBBF9-CAA2-4098-BB3A-1DCFA7AB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891BF-FA73-40C7-8B75-4386BAC7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525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The product converts ordinary video into coachable posture data, then returns concise corrections while the athlete is still moving.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61BC9-927C-4DB7-9CF1-207C02BF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A7C45-B0C3-4DE8-9B0E-4BB48F47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03C0D-3077-481C-8E2D-71E96457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96322-FD24-4353-A710-5DD470F0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71875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Browser AI reads pose, hand, and face landmarks on the athlete device.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31E77-8CB0-4C2B-969E-FA0EBFB4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85750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97003-1504-4E49-A526-FB6A2024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048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91CEF-943D-400F-AAE3-1271C601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Analyze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F227D-A987-4B4F-AA28-A1D58A5C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 rules engine compares joint angles, phase timing, and kinetic sequence.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BED67-A777-48AC-ACFE-1CC1A584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85750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C558F-F4DB-431C-861F-9627299DB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048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F76E9-288B-436F-B7AF-7C7483F3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Coach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F36A0-B083-40AA-9E1F-64C2FE11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571875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The app shows score, priority issues, and voice guidance without waiting for a trainer.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75B71-1337-4B58-8853-0829E7E3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57500"/>
            <a:ext cx="2476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7D02E-AC93-4FA1-A98E-700AC20C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475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BDD07-F1D6-47C6-BD99-1E871BD7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670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4C8347-9A49-49A2-A018-7D40EA39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71875"/>
            <a:ext cx="2095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Sessions become progress, XP, streaks, achievements, and circle motivation.</a:t>
            </a:r>
          </a:p>
        </p:txBody>
      </p:sp>
    </p:spTree>
    <p:extLst>
      <p:ext uri="{BB962C8B-B14F-4D97-AF65-F5344CB8AC3E}">
        <p14:creationId xmlns:p14="http://schemas.microsoft.com/office/powerpoint/2010/main" val="13401878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EF9E3-63BE-423B-87B6-EB67BFE3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MVP already covers a multi-sport coaching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3DB58-DBCF-4D91-8577-8BC8449A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67DB4-E20E-4F47-ABA1-E7D9D63F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7C2E9-05B9-4EB2-9F9D-4CDA38AD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09675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Apexformz is not a single-pose demo. The repository contains a multi-service product, sport-specific posture libraries, and dynamic movement definitions.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F2AAB-FFB5-4C20-BBDB-7EF754CD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3429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FF0654-B80C-4A45-BD93-2DE85818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385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1A03F-3F4C-4829-AC6E-1C1F572F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957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sports supported: cricket, tennis, yoga, running, boxing, and football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47E7D-0FB3-41CF-BAB9-A2573A37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429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68252-BA08-4BE0-8134-2305C2E0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450B2-85A5-4B9C-8064-A8275B9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957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static pose blueprints for frame-by-frame form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BF2E7-8634-4B6C-9EB1-B8C120E1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857500"/>
            <a:ext cx="3429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79C78-EC03-428A-AD26-C2AEE00F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2385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FC4150-02DF-4DAC-BF58-95EFDA7A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09575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dynamic movement blueprints for multi-phase skill analysis</a:t>
            </a:r>
          </a:p>
        </p:txBody>
      </p:sp>
    </p:spTree>
    <p:extLst>
      <p:ext uri="{BB962C8B-B14F-4D97-AF65-F5344CB8AC3E}">
        <p14:creationId xmlns:p14="http://schemas.microsoft.com/office/powerpoint/2010/main" val="1250407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55F64-EF84-420A-A5D4-99910427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athlete sees scored correction during the rep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CC557-2F97-4B74-A08D-BA5980BB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46F03-EC25-42D6-BCBD-AB66E753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640B2-539E-4F9E-8C3E-046EDED3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The live training page combines camera view, skeleton overlay, score ring, high-priority corrections, target posture, and voice prompts into one coaching loop.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a2fc52b294770"/>
          <a:srcRect xmlns:a="http://schemas.openxmlformats.org/drawingml/2006/main" l="3401" t="0" r="3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400050"/>
            <a:ext cx="5219700" cy="5600700"/>
          </a:xfrm>
          <a:prstGeom xmlns:a="http://schemas.openxmlformats.org/drawingml/2006/main" prst="roundRect">
            <a:avLst>
              <a:gd name="adj" fmla="val 219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BDA87-660B-4499-AA54-8F9A870B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AD76BE-BA11-42A0-8E0E-0F3C21DB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24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7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475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16674-8D50-4D37-8BDB-FE1FFB1B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0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Prioritized issues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2CAB6-E7F7-45C8-B3EC-D57F9BD3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048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Only medium and high severity corrections are surfaced to avoid overwhelming the athlete.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27178-D405-41C2-A36C-B92BB4A6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33750"/>
            <a:ext cx="247650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E25D4F-115A-4E03-B1BE-00E4B909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24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A3FB33-7585-4DE8-9019-B9F11C78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43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Voice cueing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BDE89-1865-45EA-AEFA-6AFB8308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4812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9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Speech guidance is throttled and sequential so the user hears one actionable fix at a time.</a:t>
            </a:r>
          </a:p>
        </p:txBody>
      </p:sp>
    </p:spTree>
    <p:extLst>
      <p:ext uri="{BB962C8B-B14F-4D97-AF65-F5344CB8AC3E}">
        <p14:creationId xmlns:p14="http://schemas.microsoft.com/office/powerpoint/2010/main" val="1675954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CC20C-0724-427D-AE77-23DE5803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architecture separates fast perception from coaching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6E622-9B25-404D-B028-088CDA3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C27DB-159A-4FB0-B788-4FA06AE1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74108-21AA-4FF4-80CE-0935264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Video frames stay local. The system streams abstract keypoints through a WebSocket relay to a dedicated AI service, then persists sessions and frame evidence for progress tracking.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63E41-F799-4314-AA44-458B6106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905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22B24-F121-49FA-BD5A-492641F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33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8A59B-4AA1-47AA-A7BE-36195247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290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MediaPipe Holistic detects pose, hands, and face; frames are downscaled for speed.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66140-697E-48AF-9826-7366DD3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7FADF-0081-4FDD-BEE6-C260406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762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C63B3-A3A1-4994-9FD0-1053D2C1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05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37366-41D2-4FF8-AE37-2B39CD28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133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FA5D0-2378-4A09-A4F0-D66CCC5E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290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Socket.IO authenticates sessions and forwards keypoints to the AI service.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C12D0-0725-480F-A39B-E54E8C9C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BE0D08-7EE4-4474-8740-F401D3DC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762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0C5BD-E738-462D-9249-CA4AD873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2905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9E4FC4-CBA3-4A66-AF9A-A3132243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33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AI 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E35CA-4BDE-4E0B-AFD2-BD17CF55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290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FastAPI analyzers return score, severity, joint angles, and coaching issues.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9808E-24FB-49BE-8378-DDCD2891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8671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AEC7A-1FF0-49C2-937D-02A98F04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762375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07151C-969D-4639-A439-3C094187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05125"/>
            <a:ext cx="2381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09AE65-8819-4BD9-A777-A711E25A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337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70E19-1885-4125-8B2E-D0CECCE6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290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PostgreSQL stores sessions, frames, XP, streaks, circles, and leaderboards.</a:t>
            </a:r>
          </a:p>
        </p:txBody>
      </p:sp>
    </p:spTree>
    <p:extLst>
      <p:ext uri="{BB962C8B-B14F-4D97-AF65-F5344CB8AC3E}">
        <p14:creationId xmlns:p14="http://schemas.microsoft.com/office/powerpoint/2010/main" val="1132928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07831-766E-4516-804E-1E8BA12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Dynamic analysis is the start of the moat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8DF8C-4A39-41C0-AF25-70F95ED4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1954D-C32F-4344-8ECF-87259C3E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85686C-3EF1-4A82-8EDA-A3A213AD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Static angle checks tell athletes what a position looks like. Dynamic analysis evaluates whether the movement sequence is actually being performed well.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cc1dcff814290"/>
          <a:srcRect xmlns:a="http://schemas.openxmlformats.org/drawingml/2006/main" l="11588" t="0" r="11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933450"/>
            <a:ext cx="47244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EFA69-9B4A-48C3-B22C-A5DB46B1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62250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4DE15-9FCF-46CA-BFB9-3737AFD6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952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6EF3B-62A2-4ADA-89E6-6139031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9718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59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49593-6043-4C39-9CDE-A2D2AE76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76625"/>
            <a:ext cx="157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7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 finite-state machine tracks stance, load, impact, follow-through, or cycle stages.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E4B95-A653-4D27-A7DA-37D71B9F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62250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40F37-C1E9-47D8-8D1D-E9AFBFE5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6F8DA-75DF-478B-A864-7B1EF8E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718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16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Kinetic chain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DA419F-6B90-4776-AA69-6835BFEB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76625"/>
            <a:ext cx="157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The engine checks whether hips, shoulders, and arms fire in the expected order.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01283C-263C-4387-8AA0-3E3039E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62250"/>
            <a:ext cx="1952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F0499-2242-4815-9C41-B4C24C90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527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F68350-5036-466C-B4E0-FEE37E0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71800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Fluidity score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6FDB85-8B91-4A8B-A507-49E8886A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76625"/>
            <a:ext cx="1571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8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Motion smoothness is estimated from changing angular velocities over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16DF2-DECD-4B54-9A76-24AC17E9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57800"/>
            <a:ext cx="614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shifts Apexformz from pose matching toward sport-specific movement intelligence.</a:t>
            </a:r>
          </a:p>
        </p:txBody>
      </p:sp>
    </p:spTree>
    <p:extLst>
      <p:ext uri="{BB962C8B-B14F-4D97-AF65-F5344CB8AC3E}">
        <p14:creationId xmlns:p14="http://schemas.microsoft.com/office/powerpoint/2010/main" val="15756671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D98AD5-F43E-41A0-813F-36656B93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Apexformz turns practice into retained 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273B2-0AD5-43C6-8FFA-97CE9B81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7092-2F19-4AF5-AA9D-7E3058E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114E1-9928-4CE4-9DEA-CBE87369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800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The product does not stop at correction. It uses progress mechanics and small-group accountability to make training measurable, repeatable, and social.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BD64D-2782-40AD-86F8-8B354E73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719C3-0C03-4CED-90BF-5B317E13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XP and levels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C4A68-F85D-4455-9C52-82B62903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Session duration and score convert into XP, levels, and visible progression.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A22DD-DB5C-4633-9A37-905252D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86D7B-A7DD-4990-A2D7-ED71AE5B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95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Achievements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1B6A7-51FF-4D43-98D9-A4FF5F00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76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Milestones reward first sessions, streaks, perfect scores, and volume.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E5422-B0AD-4CF5-B2C5-AA7B118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457700"/>
            <a:ext cx="5534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155F-2F21-4E57-9562-7A29FB3B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86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Validated streaks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38C8F-127B-4AA4-861A-0B6E1A14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Streaks count only when duration and sport-specific quality thresholds are met.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900DE-78D3-4C7A-8578-3678FDAC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457700"/>
            <a:ext cx="55340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70EE5-87BD-4875-B3C7-89E1CB96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686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Training circles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17D71-DAD5-48B5-8B42-ECA3D192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067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Shared streaks, health scores, roles, and nudges create peer accountability.</a:t>
            </a:r>
          </a:p>
        </p:txBody>
      </p:sp>
    </p:spTree>
    <p:extLst>
      <p:ext uri="{BB962C8B-B14F-4D97-AF65-F5344CB8AC3E}">
        <p14:creationId xmlns:p14="http://schemas.microsoft.com/office/powerpoint/2010/main" val="1315363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AC090-D99E-4B5D-A1F1-C976CE3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wedge is coaching between formal sessions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94597-C2E3-403F-942C-136F59CC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758AE-2129-4C00-BCD8-976C68A7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B898F-B9D1-4519-80D2-66C5F68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57300"/>
            <a:ext cx="800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Apexformz can enter where athletes already practice alone, then expand into coach-led programs once the data trail proves improvement.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D9F38-6F70-4A43-BD75-BFE932E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35718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963743-0960-4B67-B313-0F0AD9D8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62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Individual athletes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DEBB3-8966-4A6B-8768-3EFD1F92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Home practice for cricket, tennis, yoga, running, boxing, and football learners who need immediate form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DB371-1472-4A36-B276-36FEF84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19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02D49-94C8-4573-A7E1-03557F0D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5718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1F799-8C56-402F-AB95-FC9C61A1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62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Academies and clubs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A72F5-DC72-4878-9784-733CD341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Coach dashboards can convert session histories into between-practice assignments and measurable development plans.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492262-09E4-4A85-B894-EE491302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060457-D4C3-40B9-8866-5379A7F2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57500"/>
            <a:ext cx="3571875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2399F-95A7-4C38-808A-E2B80892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162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Wellness and fitness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FD0D6E-4E9C-49C7-B28D-996F05E4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790950"/>
            <a:ext cx="3000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Static poses, squats, planks, gait, and posture routines create an entry point outside competitive sport.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F0D2F-4786-4B42-BF0D-21153BFA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19700"/>
            <a:ext cx="1238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FF8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0593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17941-B451-458B-8D40-750B269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3375"/>
            <a:ext cx="11410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Revenue can scale from users to teams to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3D6D3-6E8B-42FE-8646-2014E440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05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E98AB-EF8C-4BB3-A22D-1DDF3214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055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AFF5A-51E1-4093-95E7-700CD6D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238250"/>
            <a:ext cx="828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0A0F1E"/>
                </a:solidFill>
                <a:latin typeface="Helvetica Neue"/>
                <a:ea typeface="Helvetica Neue"/>
                <a:cs typeface="Helvetica Neue"/>
              </a:rPr>
              <a:t>The same coaching engine can support direct subscriptions, coach-managed deployments, and eventually biomechanics APIs or white-label integrations.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F0E87-4D9B-44A3-A59E-B3AB23A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3571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8B4B8-4CCD-41E8-B0EB-9741CA0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38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Athlete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71BCE-B14D-415D-8D11-CF656788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524250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Freemium onboarding, paid unlimited analysis, sport packs, and advanced training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76295-D937-412E-8196-DCE4A520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0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D4FF"/>
                </a:solidFill>
                <a:latin typeface="Helvetica Neue"/>
                <a:ea typeface="Helvetica Neue"/>
                <a:cs typeface="Helvetica Neue"/>
              </a:rPr>
              <a:t>B2C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CBF0E-9489-4CB5-9B50-932B4E53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3571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24AA6-5577-4671-8DE6-8CF31B99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Academy toolkit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A223-B477-40E0-AF7E-54D36098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Coach seats, team rosters, assigned drills, progress review, and circle-based accountability.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FAE3C2-9DDE-4F0C-80C5-54C658C0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0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FF88"/>
                </a:solidFill>
                <a:latin typeface="Helvetica Neue"/>
                <a:ea typeface="Helvetica Neue"/>
                <a:cs typeface="Helvetica Neue"/>
              </a:rPr>
              <a:t>B2B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7B568-2182-43F7-AD4F-11755755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76500"/>
            <a:ext cx="3571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7D0459-C039-415E-A127-DBECF3AE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Motion intelligence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00296-C70E-4A69-BFC2-FF6D1AD3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524250"/>
            <a:ext cx="3000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Scoring, pose blueprint, dynamic phase, and kinetic-chain services for partners.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680A-AD08-462A-8A02-723241F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810125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2140922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4B116-2AB3-46B3-A23E-C1B60954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0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APEXFORMZ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89C18-CFA4-454F-8642-5FFF8F2E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38300"/>
            <a:ext cx="7239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Funding now turns the MVP into a defensible coaching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24180-1DD8-4765-B863-0E22E0AE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6334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Near-term capital should harden reliability, validate paid demand with pilots, and expand the movement intelligence library.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32D38-7D52-4F39-8899-F3F99069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23950"/>
            <a:ext cx="3981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5E56E-9F95-49CB-B56A-482289A2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76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Product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712ED-786C-424F-8A22-CCE4E384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27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Run structured pilots with academies and committed individual athletes.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AD1AE-280A-4FB6-A5D5-85E42E6B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28850"/>
            <a:ext cx="3981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445E38-2593-4EB6-8825-CCAA964A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Technical depth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FE80-4DB4-455E-8D8B-CD143016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76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0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Hire computer-vision, biomechanics, and product engineering capacity.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E1FA1-97F0-4EBB-8798-0E717FA6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3981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01284-93D6-4D3C-A667-FB8CF9FF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86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Data advantage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73DAB-439C-4F5D-824F-8D9A685F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814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7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Build consented movement datasets and coach-reviewed scoring standards.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C7CB4-594B-4FF6-98B5-6B223662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38650"/>
            <a:ext cx="39814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AA036-C698-46EF-BCF4-361782BA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91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Commercial launch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3552A-F552-4F6D-9503-F058D7C7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863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8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Package athlete, academy, and partner offerings with clear retention metrics.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5FF18E-D3B2-4248-8C94-B6EC229C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006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D0A32-F3BD-4B17-8347-27B5331C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Seeking seed capital and pilot partners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8288F-543B-40F0-8C52-A2D93DE2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960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673"/>
                </a:solidFill>
                <a:latin typeface="Helvetica Neue"/>
                <a:ea typeface="Helvetica Neue"/>
                <a:cs typeface="Helvetica Neue"/>
              </a:rPr>
              <a:t>Apexformz | AI technique coaching</a:t>
            </a:r>
          </a:p>
        </p:txBody>
      </p:sp>
    </p:spTree>
    <p:extLst>
      <p:ext uri="{BB962C8B-B14F-4D97-AF65-F5344CB8AC3E}">
        <p14:creationId xmlns:p14="http://schemas.microsoft.com/office/powerpoint/2010/main" val="1480791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2026-07-24T07:41:19.8250000Z</dcterms:created>
  <dcterms:modified xsi:type="dcterms:W3CDTF">2026-07-24T07:41:19.8260000Z</dcterms:modified>
</coreProperties>
</file>